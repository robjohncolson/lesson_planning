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CCDDEE"/>
                </a:solidFill>
                <a:latin typeface="Calibri"/>
              </a:rPr>
              <a:t>ALGEBRA 2  ·  LESSON 3-5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Day 3  —  The Magic of Multiplicity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DEEFF"/>
                </a:solidFill>
                <a:latin typeface="Calibri"/>
              </a:rPr>
              <a:t>Math Objective: determine multiplicity of each zero; predict cross/touch from factored form.</a:t>
            </a:r>
          </a:p>
          <a:p>
            <a:pPr algn="l"/>
            <a:r>
              <a:rPr sz="2000" b="0">
                <a:solidFill>
                  <a:srgbClr val="DDEEFF"/>
                </a:solidFill>
                <a:latin typeface="Calibri"/>
              </a:rPr>
              <a:t>Essential Question: what does a repeated factor do to the graph, and how can you predict behavior just from factored form?</a:t>
            </a:r>
          </a:p>
          <a:p>
            <a:pPr algn="l"/>
            <a:r>
              <a:rPr sz="2000" b="0">
                <a:solidFill>
                  <a:srgbClr val="DDEEFF"/>
                </a:solidFill>
                <a:latin typeface="Calibri"/>
              </a:rPr>
              <a:t/>
            </a:r>
          </a:p>
          <a:p>
            <a:pPr algn="l"/>
            <a:r>
              <a:rPr sz="2000" b="0">
                <a:solidFill>
                  <a:srgbClr val="DDEEFF"/>
                </a:solidFill>
                <a:latin typeface="Calibri"/>
              </a:rPr>
              <a:t>Yesterday: g(x) = x(x − 4)² TOUCHED at x = 4. We said “we’ll name it tomorrow.”</a:t>
            </a:r>
          </a:p>
          <a:p>
            <a:pPr algn="l"/>
            <a:r>
              <a:rPr sz="2000" b="0">
                <a:solidFill>
                  <a:srgbClr val="DDEEFF"/>
                </a:solidFill>
                <a:latin typeface="Calibri"/>
              </a:rPr>
              <a:t>Today is tomorrow. The word is MULTIPLICITY.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8AACC"/>
                </a:solidFill>
                <a:latin typeface="Calibri"/>
              </a:rPr>
              <a:t>55-min block  ·  Tuesday F / Tuesday A / Monday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3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Do Now  —  Touch or Cross?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  <a:latin typeface="Calibri"/>
              </a:rPr>
              <a:t>Phase 1/8  ·  Algebra 2  ·  Lesson 3-5  ·  Day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1060704" cy="320040"/>
          </a:xfrm>
          <a:prstGeom prst="roundRect">
            <a:avLst>
              <a:gd name="adj" fmla="val 50000"/>
            </a:avLst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 Now 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52176" y="365760"/>
            <a:ext cx="758952" cy="320040"/>
          </a:xfrm>
          <a:prstGeom prst="roundRect">
            <a:avLst>
              <a:gd name="adj" fmla="val 50000"/>
            </a:avLst>
          </a:prstGeom>
          <a:solidFill>
            <a:srgbClr val="1E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777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DDEE"/>
                </a:solidFill>
                <a:latin typeface="Calibri"/>
              </a:rPr>
              <a:t>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On the Do Now sheet in front of you —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for EACH zero, predict: CROSS or TOUCH?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1.  f(x) = (x + 2)(x − 3)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2.  h(x) = (x − 1)² (x + 5)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3.  k(x) = x³ (x − 2)²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4.  Pattern guess: EVEN factor count → ?    ODD factor count → ?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Silent · Pencil only · No Desmos · No packet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D94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When everyone's in:  Blooket code coming 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3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Blooket  —  Log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  <a:latin typeface="Calibri"/>
              </a:rPr>
              <a:t>Phase 2/8  ·  Algebra 2  ·  Lesson 3-5  ·  Day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1060704" cy="320040"/>
          </a:xfrm>
          <a:prstGeom prst="roundRect">
            <a:avLst>
              <a:gd name="adj" fmla="val 50000"/>
            </a:avLst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 Now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777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DDEE"/>
                </a:solidFill>
                <a:latin typeface="Calibri"/>
              </a:rPr>
              <a:t>2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556677"/>
                </a:solidFill>
                <a:latin typeface="Calibri"/>
              </a:rPr>
              <a:t>Blooket code: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377440"/>
            <a:ext cx="941832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0B3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661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56677"/>
                </a:solidFill>
                <a:latin typeface="Calibri"/>
              </a:rPr>
              <a:t>( Day 3 Multiplicity Blooket code here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12233"/>
                </a:solidFill>
                <a:latin typeface="Calibri"/>
              </a:rPr>
              <a:t>Chromebooks open · Type the code · Enter a nickname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D94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3276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2 minutes to log in. Game waits for no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3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Blooket  —  Multiplicity 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  <a:latin typeface="Calibri"/>
              </a:rPr>
              <a:t>Phase 3/8  ·  Algebra 2  ·  Lesson 3-5  ·  Day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1060704" cy="320040"/>
          </a:xfrm>
          <a:prstGeom prst="roundRect">
            <a:avLst>
              <a:gd name="adj" fmla="val 50000"/>
            </a:avLst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 Now 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52176" y="365760"/>
            <a:ext cx="758952" cy="320040"/>
          </a:xfrm>
          <a:prstGeom prst="roundRect">
            <a:avLst>
              <a:gd name="adj" fmla="val 50000"/>
            </a:avLst>
          </a:prstGeom>
          <a:solidFill>
            <a:srgbClr val="1E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777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DDEE"/>
                </a:solidFill>
                <a:latin typeface="Calibri"/>
              </a:rPr>
              <a:t>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Today’s targeted Blooket (NEW):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  •  Reading multiplicity from factored form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  •  Even vs. odd behavior (cross vs. touch)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  •  Matching graphs to equations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  •  2 recall questions from Day 2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Focus. Play fast. Teacher is watching the dashboard.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D94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Close game.  “Packets out. Pull your Do Now sheet. Next we name the thing.”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3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Launch  —  Name It:  MULTIPLICITY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  <a:latin typeface="Calibri"/>
              </a:rPr>
              <a:t>Phase 4/8  ·  Algebra 2  ·  Lesson 3-5  ·  Day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859536" cy="320040"/>
          </a:xfrm>
          <a:prstGeom prst="roundRect">
            <a:avLst>
              <a:gd name="adj" fmla="val 50000"/>
            </a:avLst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Launch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51008" y="365760"/>
            <a:ext cx="758952" cy="320040"/>
          </a:xfrm>
          <a:prstGeom prst="roundRect">
            <a:avLst>
              <a:gd name="adj" fmla="val 50000"/>
            </a:avLst>
          </a:prstGeom>
          <a:solidFill>
            <a:srgbClr val="1E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777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DDEE"/>
                </a:solidFill>
                <a:latin typeface="Calibri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Yesterday:  g(x) = x (x − 4)²   touched at x = 4.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MULTIPLICITY  =  how many times a factor appears in factored form.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f(x) = (x − 4)² (x + 1)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   •  x = 4:   factor (x − 4) appears 2 times  →  multiplicity 2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   •  x = −1:  factor (x + 1) appears 1 time   →  multiplicity 1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Build the Frayer on your packet:  Definition  /  Characteristics  /  Example  /  Non-example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D94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Desmos next.  We’ll test (x − 1) with exponents 1, 2, 3, 4. Watch x = 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3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Explore  —  Desmos: (x − 1)ⁿ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  <a:latin typeface="Calibri"/>
              </a:rPr>
              <a:t>Phase 5/8  ·  Algebra 2  ·  Lesson 3-5  ·  Day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960120" cy="320040"/>
          </a:xfrm>
          <a:prstGeom prst="roundRect">
            <a:avLst>
              <a:gd name="adj" fmla="val 50000"/>
            </a:avLst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Explore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51592" y="365760"/>
            <a:ext cx="960120" cy="320040"/>
          </a:xfrm>
          <a:prstGeom prst="roundRect">
            <a:avLst>
              <a:gd name="adj" fmla="val 50000"/>
            </a:avLst>
          </a:prstGeom>
          <a:solidFill>
            <a:srgbClr val="1E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DOK 2–3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777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DDEE"/>
                </a:solidFill>
                <a:latin typeface="Calibri"/>
              </a:rPr>
              <a:t>15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Graph each. Record what happens AT x = 1: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(a)  y = (x − 1)¹     →  ?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(b)  y = (x − 1)²     →  ?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(c)  y = (x − 1)³     →  ?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(d)  y = (x − 1)⁴     →  ?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Then fill the EVEN vs. ODD T-chart.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Frame:  “The multiplicity is ____, so the graph ____ at x = ____.”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D94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Bonus: (x-1)³ crosses, but HOW is that cross different from (x-1)¹? Discuss.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3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Explore  —  Tonya’s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  <a:latin typeface="Calibri"/>
              </a:rPr>
              <a:t>Phase 6/8  ·  Algebra 2  ·  Lesson 3-5  ·  Day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960120" cy="320040"/>
          </a:xfrm>
          <a:prstGeom prst="roundRect">
            <a:avLst>
              <a:gd name="adj" fmla="val 50000"/>
            </a:avLst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Explore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51592" y="365760"/>
            <a:ext cx="758952" cy="320040"/>
          </a:xfrm>
          <a:prstGeom prst="roundRect">
            <a:avLst>
              <a:gd name="adj" fmla="val 50000"/>
            </a:avLst>
          </a:prstGeom>
          <a:solidFill>
            <a:srgbClr val="1E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777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DDEE"/>
                </a:solidFill>
                <a:latin typeface="Calibri"/>
              </a:rPr>
              <a:t>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Tonya sketches   f(x) = (x + 1)² (x − 3).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She draws the graph CROSSING at x = −1 and CROSSING at x = 3.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(a)  What did Tonya get RIGHT?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(b)  What did she get WRONG?   Use the word MULTIPLICITY.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(c)  Defend the correct behavior at x = −1 in CER format.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Partners justify aloud using “because” / “since.”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D94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If time short: verbal CER now, written CER = homework.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3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Share /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  <a:latin typeface="Calibri"/>
              </a:rPr>
              <a:t>Phase 7/8  ·  Algebra 2  ·  Lesson 3-5  ·  Day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1563624" cy="320040"/>
          </a:xfrm>
          <a:prstGeom prst="roundRect">
            <a:avLst>
              <a:gd name="adj" fmla="val 50000"/>
            </a:avLst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Share/Summary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55096" y="365760"/>
            <a:ext cx="758952" cy="320040"/>
          </a:xfrm>
          <a:prstGeom prst="roundRect">
            <a:avLst>
              <a:gd name="adj" fmla="val 50000"/>
            </a:avLst>
          </a:prstGeom>
          <a:solidFill>
            <a:srgbClr val="1E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777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DDEE"/>
                </a:solidFill>
                <a:latin typeface="Calibri"/>
              </a:rPr>
              <a:t>4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Essential Question: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What does a repeated factor do to the graph,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and how do you predict each zero’s behavior just from factored form?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Language Objective check: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Who used  “The multiplicity is ___, so the graph ___ at x = ___”?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Self-rating on packet:   ✓  /  partly  /  not yet</a:t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400" b="0">
                <a:solidFill>
                  <a:srgbClr val="112233"/>
                </a:solidFill>
                <a:latin typeface="Calibri"/>
              </a:rPr>
              <a:t>Preview Day 4:  what if the quadratic won’t factor over the reals? Complex zeros.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D94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“Pencils up. Exit ticket. Use the frame.”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3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  <a:latin typeface="Calibri"/>
              </a:rPr>
              <a:t>Phase 8/8  ·  Algebra 2  ·  Lesson 3-5  ·  Day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Exit Ticket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53928" y="365760"/>
            <a:ext cx="758952" cy="320040"/>
          </a:xfrm>
          <a:prstGeom prst="roundRect">
            <a:avLst>
              <a:gd name="adj" fmla="val 50000"/>
            </a:avLst>
          </a:prstGeom>
          <a:solidFill>
            <a:srgbClr val="1E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777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DDEE"/>
                </a:solidFill>
                <a:latin typeface="Calibri"/>
              </a:rPr>
              <a:t>4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12233"/>
                </a:solidFill>
                <a:latin typeface="Calibri"/>
              </a:rPr>
              <a:t>For  p(x) = (x + 2)³ (x − 1)² (x − 4):</a:t>
            </a:r>
          </a:p>
          <a:p>
            <a:pPr algn="l"/>
            <a:r>
              <a:rPr sz="26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600" b="0">
                <a:solidFill>
                  <a:srgbClr val="112233"/>
                </a:solidFill>
                <a:latin typeface="Calibri"/>
              </a:rPr>
              <a:t>(a)  List each zero and its MULTIPLICITY.</a:t>
            </a:r>
          </a:p>
          <a:p>
            <a:pPr algn="l"/>
            <a:r>
              <a:rPr sz="2600" b="0">
                <a:solidFill>
                  <a:srgbClr val="112233"/>
                </a:solidFill>
                <a:latin typeface="Calibri"/>
              </a:rPr>
              <a:t>(b)  Predict the behavior (cross / touch / flatten-through) at each.</a:t>
            </a:r>
          </a:p>
          <a:p>
            <a:pPr algn="l"/>
            <a:r>
              <a:rPr sz="2600" b="0">
                <a:solidFill>
                  <a:srgbClr val="112233"/>
                </a:solidFill>
                <a:latin typeface="Calibri"/>
              </a:rPr>
              <a:t>(c)  In ONE sentence, explain how multiplicity told you the behavior —</a:t>
            </a:r>
          </a:p>
          <a:p>
            <a:pPr algn="l"/>
            <a:r>
              <a:rPr sz="2600" b="0">
                <a:solidFill>
                  <a:srgbClr val="112233"/>
                </a:solidFill>
                <a:latin typeface="Calibri"/>
              </a:rPr>
              <a:t>       use the frame.</a:t>
            </a:r>
          </a:p>
          <a:p>
            <a:pPr algn="l"/>
            <a:r>
              <a:rPr sz="26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600" b="0">
                <a:solidFill>
                  <a:srgbClr val="112233"/>
                </a:solidFill>
                <a:latin typeface="Calibri"/>
              </a:rPr>
              <a:t>Put your packet on the front desk as you leave.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D94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Packets to the front. Pack up. See you next class.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03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Nice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49039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DEEFF"/>
                </a:solidFill>
                <a:latin typeface="Calibri"/>
              </a:rPr>
              <a:t>Collect:  Exit Ticket  ·  Do Now sheet  ·  Tonya error analysis</a:t>
            </a:r>
          </a:p>
          <a:p>
            <a:pPr algn="ctr"/>
            <a:r>
              <a:rPr sz="2200" b="0">
                <a:solidFill>
                  <a:srgbClr val="DDEEFF"/>
                </a:solidFill>
                <a:latin typeface="Calibri"/>
              </a:rPr>
              <a:t/>
            </a:r>
          </a:p>
          <a:p>
            <a:pPr algn="ctr"/>
            <a:r>
              <a:rPr sz="2200" b="0">
                <a:solidFill>
                  <a:srgbClr val="DDEEFF"/>
                </a:solidFill>
                <a:latin typeface="Calibri"/>
              </a:rPr>
              <a:t>Day 4 preview:  real vs. complex zeros — what if we can’t factor over the reals?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