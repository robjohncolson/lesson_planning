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CDDEE"/>
                </a:solidFill>
                <a:latin typeface="Calibri"/>
              </a:rPr>
              <a:t>ALGEBRA 2  ·  LESSON 3-5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Day 8  —  Lesson Quiz + Differentiated Stations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DEEFF"/>
                </a:solidFill>
                <a:latin typeface="Calibri"/>
              </a:rPr>
              <a:t>Do Now A (vocabulary)  ·  Quiz (25 min, silent)  ·  Stations  ·  Exit</a:t>
            </a:r>
          </a:p>
          <a:p>
            <a:pPr algn="l"/>
            <a:r>
              <a:rPr sz="2200" b="0">
                <a:solidFill>
                  <a:srgbClr val="DDEEFF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DDEEFF"/>
                </a:solidFill>
                <a:latin typeface="Calibri"/>
              </a:rPr>
              <a:t>All quiz items from Savvas Lesson 3-5 Lesson Quiz.</a:t>
            </a:r>
          </a:p>
          <a:p>
            <a:pPr algn="l"/>
            <a:r>
              <a:rPr sz="2200" b="0">
                <a:solidFill>
                  <a:srgbClr val="DDEEFF"/>
                </a:solidFill>
                <a:latin typeface="Calibri"/>
              </a:rPr>
              <a:t>No Blooket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AACC"/>
                </a:solidFill>
                <a:latin typeface="Calibri"/>
              </a:rPr>
              <a:t>55-min lesson  ·  Savvas-only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Do Now — Vocabulary Warm-Up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1/5  ·  Algebra 2  ·  Lesson 3-5  ·  Day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06070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 Now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52176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On the Do Now sheet — Savvas Practice (bank: 3-5-savvas-q28):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Complete each statement so it means the same as '4 is a zero of the function': (1) The graph of the function crosses the ______ at 4. (2) ______ is a factor of 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Complete both blanks.  Work alone.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When done: re-read your notes on Lesson 3-5.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5 minutes. Silent. Pencil only. No Desmos.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Quiz — Savvas Lesson 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2/5  ·  Algebra 2  ·  Lesson 3-5  ·  Day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261872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Assessment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53344" y="365760"/>
            <a:ext cx="960120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1–2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25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12233"/>
                </a:solidFill>
                <a:latin typeface="Calibri"/>
              </a:rPr>
              <a:t>Savvas Lesson Quiz  (6 items, 25 minutes):</a:t>
            </a:r>
          </a:p>
          <a:p>
            <a:pPr algn="l"/>
            <a:r>
              <a:rPr sz="19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900" b="0">
                <a:solidFill>
                  <a:srgbClr val="112233"/>
                </a:solidFill>
                <a:latin typeface="Calibri"/>
              </a:rPr>
              <a:t>  Q1a.  What are all the zeros of f(x) = x³ + 2x² − 3x?</a:t>
            </a:r>
          </a:p>
          <a:p>
            <a:pPr algn="l"/>
            <a:r>
              <a:rPr sz="1900" b="0">
                <a:solidFill>
                  <a:srgbClr val="112233"/>
                </a:solidFill>
                <a:latin typeface="Calibri"/>
              </a:rPr>
              <a:t>  Q1b.  Use the zeros of f(x) = x³ + 2x² − 3x to sketch the graph of f.</a:t>
            </a:r>
          </a:p>
          <a:p>
            <a:pPr algn="l"/>
            <a:r>
              <a:rPr sz="1900" b="0">
                <a:solidFill>
                  <a:srgbClr val="112233"/>
                </a:solidFill>
                <a:latin typeface="Calibri"/>
              </a:rPr>
              <a:t>  Q2.   What x−values are solutions of x³ + 5x² − x − 7 = x² + 6x + 3? Simplify the polynomial and</a:t>
            </a:r>
          </a:p>
          <a:p>
            <a:pPr algn="l"/>
            <a:r>
              <a:rPr sz="1900" b="0">
                <a:solidFill>
                  <a:srgbClr val="112233"/>
                </a:solidFill>
                <a:latin typeface="Calibri"/>
              </a:rPr>
              <a:t>  Q3.   What values of x are solutions of the inequality x³ − 4x &gt; 0?</a:t>
            </a:r>
          </a:p>
          <a:p>
            <a:pPr algn="l"/>
            <a:r>
              <a:rPr sz="1900" b="0">
                <a:solidFill>
                  <a:srgbClr val="112233"/>
                </a:solidFill>
                <a:latin typeface="Calibri"/>
              </a:rPr>
              <a:t>  Q4.   What are the zeros and their multiplicities for the function y = x³ + 3x² + x + 3, shown i</a:t>
            </a:r>
          </a:p>
          <a:p>
            <a:pPr algn="l"/>
            <a:r>
              <a:rPr sz="1900" b="0">
                <a:solidFill>
                  <a:srgbClr val="112233"/>
                </a:solidFill>
                <a:latin typeface="Calibri"/>
              </a:rPr>
              <a:t>  Q5.   Find the zeros of f(x) = −x³ − 2x² + 7x − 4. Then describe the behavior of the graph of f 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Silent. Pencil only. No Desmos. Show all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Stations — Differentiated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3/5  ·  Algebra 2  ·  Lesson 3-5  ·  Day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06070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52176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18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Rate yourself  1 / 2 / 3  on how the quiz felt.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►  1 (needed help)    →  Support station  (re-teach: factoring + multiplicity)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►  2 (mostly there)  →  Core station      (sign chart + complex zeros)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►  3 (confident)     →  Extend station    (firework modeling, DOK 3)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Circle your station(s) on the student packet.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You have 18 minutes. You may do 2 stations.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Student choice. Support → Core → Extend.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Station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4/5  ·  Algebra 2  ·  Lesson 3-5  ·  Day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06070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52176" y="365760"/>
            <a:ext cx="960120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1–3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18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>SUPPORT  [3-5-savvas-q14, 3-5-blooket-day3-multiplicity-q1]</a:t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>  Find zeros, state multiplicity, describe behavior (crosses / tangent).</a:t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>CORE  [3-5-savvas-q17  +  3-5-savvas-q22]</a:t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>  Real + complex zeros; polynomial inequality sign chart.</a:t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>EXTEND  [3-5-savvas-q25]  — DOK 3</a:t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>  Firework height model: domain, zeros in context, vertex.</a:t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>All items from Savvas bank. Show full work on the student packet.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Teacher circulates. Questions only — no answers given.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Exit — Summary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5/5  ·  Algebra 2  ·  Lesson 3-5  ·  Day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658368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365760"/>
            <a:ext cx="960120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1–2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12233"/>
                </a:solidFill>
                <a:latin typeface="Calibri"/>
              </a:rPr>
              <a:t>Fill in the blanks on your packet (no notes, no Desmos):</a:t>
            </a:r>
          </a:p>
          <a:p>
            <a:pPr algn="l"/>
            <a:r>
              <a:rPr sz="21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100" b="0">
                <a:solidFill>
                  <a:srgbClr val="112233"/>
                </a:solidFill>
                <a:latin typeface="Calibri"/>
              </a:rPr>
              <a:t>1.  A zero of a polynomial is an x-value where f(x) = ___.  The graph ___ or is ___ at that point.</a:t>
            </a:r>
          </a:p>
          <a:p>
            <a:pPr algn="l"/>
            <a:r>
              <a:rPr sz="21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100" b="0">
                <a:solidFill>
                  <a:srgbClr val="112233"/>
                </a:solidFill>
                <a:latin typeface="Calibri"/>
              </a:rPr>
              <a:t>2.  EVEN multiplicity → graph is ___ to the x-axis (turning point).</a:t>
            </a:r>
          </a:p>
          <a:p>
            <a:pPr algn="l"/>
            <a:r>
              <a:rPr sz="21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100" b="0">
                <a:solidFill>
                  <a:srgbClr val="112233"/>
                </a:solidFill>
                <a:latin typeface="Calibri"/>
              </a:rPr>
              <a:t>3.  To solve a polynomial inequality: find ___ and build a ___ chart.</a:t>
            </a:r>
          </a:p>
          <a:p>
            <a:pPr algn="l"/>
            <a:r>
              <a:rPr sz="21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100" b="0">
                <a:solidFill>
                  <a:srgbClr val="112233"/>
                </a:solidFill>
                <a:latin typeface="Calibri"/>
              </a:rPr>
              <a:t>4.  My biggest takeaway from Lesson 3-5 (one sentence):</a:t>
            </a:r>
          </a:p>
          <a:p>
            <a:pPr algn="l"/>
            <a:r>
              <a:rPr sz="2100" b="0">
                <a:solidFill>
                  <a:srgbClr val="112233"/>
                </a:solidFill>
                <a:latin typeface="Calibri"/>
              </a:rPr>
              <a:t>    Place packets on the front desk as you leave.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Packets to the front. Pack 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  <a:latin typeface="Calibri"/>
              </a:rPr>
              <a:t>Great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DDEEFF"/>
                </a:solidFill>
                <a:latin typeface="Calibri"/>
              </a:rPr>
              <a:t>Collect:  Do Now sheets  ·  Quiz packets  ·  Student packets</a:t>
            </a:r>
          </a:p>
          <a:p>
            <a:pPr algn="ctr"/>
            <a:r>
              <a:rPr sz="2200" b="0">
                <a:solidFill>
                  <a:srgbClr val="DDEEFF"/>
                </a:solidFill>
                <a:latin typeface="Calibri"/>
              </a:rPr>
              <a:t/>
            </a:r>
          </a:p>
          <a:p>
            <a:pPr algn="ctr"/>
            <a:r>
              <a:rPr sz="2200" b="0">
                <a:solidFill>
                  <a:srgbClr val="DDEEFF"/>
                </a:solidFill>
                <a:latin typeface="Calibri"/>
              </a:rPr>
              <a:t>Lesson 3-5 complete. On to Lesson 4-1.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