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3C6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1188720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0">
                <a:solidFill>
                  <a:srgbClr val="CCDDEE"/>
                </a:solidFill>
                <a:latin typeface="Calibri"/>
              </a:rPr>
              <a:t>ALGEBRA 2  ·  LESSON 3-5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828800"/>
            <a:ext cx="10972800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800" b="1">
                <a:solidFill>
                  <a:srgbClr val="FFFFFF"/>
                </a:solidFill>
                <a:latin typeface="Calibri"/>
              </a:rPr>
              <a:t>Day 8  —  Lesson Quiz + Differentiated Stations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3291840"/>
            <a:ext cx="10972800" cy="2926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0">
                <a:solidFill>
                  <a:srgbClr val="DDEEFF"/>
                </a:solidFill>
                <a:latin typeface="Calibri"/>
              </a:rPr>
              <a:t>Do Now A (vocabulary)  ·  Quiz (25 min, silent)  ·  Stations  ·  Exit</a:t>
            </a:r>
          </a:p>
          <a:p>
            <a:pPr algn="l"/>
            <a:r>
              <a:rPr sz="2200" b="0">
                <a:solidFill>
                  <a:srgbClr val="DDEEFF"/>
                </a:solidFill>
                <a:latin typeface="Calibri"/>
              </a:rPr>
              <a:t/>
            </a:r>
          </a:p>
          <a:p>
            <a:pPr algn="l"/>
            <a:r>
              <a:rPr sz="2200" b="0">
                <a:solidFill>
                  <a:srgbClr val="DDEEFF"/>
                </a:solidFill>
                <a:latin typeface="Calibri"/>
              </a:rPr>
              <a:t>All quiz items from Savvas Lesson 3-5 Lesson Quiz.</a:t>
            </a:r>
          </a:p>
          <a:p>
            <a:pPr algn="l"/>
            <a:r>
              <a:rPr sz="2200" b="0">
                <a:solidFill>
                  <a:srgbClr val="DDEEFF"/>
                </a:solidFill>
                <a:latin typeface="Calibri"/>
              </a:rPr>
              <a:t>No Blooket today.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6126480"/>
            <a:ext cx="10972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>
                <a:solidFill>
                  <a:srgbClr val="88AACC"/>
                </a:solidFill>
                <a:latin typeface="Calibri"/>
              </a:rPr>
              <a:t>55-min lesson  ·  Savvas-only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EAF2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88720"/>
          </a:xfrm>
          <a:prstGeom prst="rect">
            <a:avLst/>
          </a:prstGeom>
          <a:solidFill>
            <a:srgbClr val="0B3C6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86868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400" b="1">
                <a:solidFill>
                  <a:srgbClr val="FFFFFF"/>
                </a:solidFill>
                <a:latin typeface="Calibri"/>
              </a:rPr>
              <a:t>Do Now — Vocabulary Warm-Up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749808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CCDDEE"/>
                </a:solidFill>
                <a:latin typeface="Calibri"/>
              </a:rPr>
              <a:t>Phase 1/5  ·  Algebra 2  ·  Lesson 3-5  ·  Day 8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9418320" y="365760"/>
            <a:ext cx="1060704" cy="320040"/>
          </a:xfrm>
          <a:prstGeom prst="roundRect">
            <a:avLst>
              <a:gd name="adj" fmla="val 50000"/>
            </a:avLst>
          </a:prstGeom>
          <a:solidFill>
            <a:srgbClr val="2233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 rIns="73152"/>
          <a:lstStyle/>
          <a:p>
            <a:pPr algn="ctr"/>
            <a:r>
              <a:rPr sz="1100" b="1">
                <a:solidFill>
                  <a:srgbClr val="FFFFFF"/>
                </a:solidFill>
                <a:latin typeface="Calibri"/>
              </a:rPr>
              <a:t>Do Now A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10552176" y="365760"/>
            <a:ext cx="758952" cy="320040"/>
          </a:xfrm>
          <a:prstGeom prst="roundRect">
            <a:avLst>
              <a:gd name="adj" fmla="val 50000"/>
            </a:avLst>
          </a:prstGeom>
          <a:solidFill>
            <a:srgbClr val="1E6FC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 rIns="73152"/>
          <a:lstStyle/>
          <a:p>
            <a:pPr algn="ctr"/>
            <a:r>
              <a:rPr sz="1100" b="1">
                <a:solidFill>
                  <a:srgbClr val="FFFFFF"/>
                </a:solidFill>
                <a:latin typeface="Calibri"/>
              </a:rPr>
              <a:t>DOK 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418320" y="777240"/>
            <a:ext cx="2286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CCDDEE"/>
                </a:solidFill>
                <a:latin typeface="Calibri"/>
              </a:rPr>
              <a:t>5 min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1463040"/>
            <a:ext cx="11064240" cy="4846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0">
                <a:solidFill>
                  <a:srgbClr val="112233"/>
                </a:solidFill>
                <a:latin typeface="Calibri"/>
              </a:rPr>
              <a:t>On the Do Now sheet — Savvas Practice (bank: 3-5-savvas-q28):</a:t>
            </a:r>
          </a:p>
          <a:p>
            <a:pPr algn="l"/>
            <a:r>
              <a:rPr sz="2200" b="0">
                <a:solidFill>
                  <a:srgbClr val="112233"/>
                </a:solidFill>
                <a:latin typeface="Calibri"/>
              </a:rPr>
              <a:t/>
            </a:r>
          </a:p>
          <a:p>
            <a:pPr algn="l"/>
            <a:r>
              <a:rPr sz="2200" b="0">
                <a:solidFill>
                  <a:srgbClr val="112233"/>
                </a:solidFill>
                <a:latin typeface="Calibri"/>
              </a:rPr>
              <a:t>  Complete each statement so it means the same as '4 is a zero of the function': (1) The graph of the function crosses the ______ at 4. (2) ______ is a factor of </a:t>
            </a:r>
          </a:p>
          <a:p>
            <a:pPr algn="l"/>
            <a:r>
              <a:rPr sz="2200" b="0">
                <a:solidFill>
                  <a:srgbClr val="112233"/>
                </a:solidFill>
                <a:latin typeface="Calibri"/>
              </a:rPr>
              <a:t/>
            </a:r>
          </a:p>
          <a:p>
            <a:pPr algn="l"/>
            <a:r>
              <a:rPr sz="2200" b="0">
                <a:solidFill>
                  <a:srgbClr val="112233"/>
                </a:solidFill>
                <a:latin typeface="Calibri"/>
              </a:rPr>
              <a:t>Complete both blanks.  Work alone.</a:t>
            </a:r>
          </a:p>
          <a:p>
            <a:pPr algn="l"/>
            <a:r>
              <a:rPr sz="2200" b="0">
                <a:solidFill>
                  <a:srgbClr val="112233"/>
                </a:solidFill>
                <a:latin typeface="Calibri"/>
              </a:rPr>
              <a:t/>
            </a:r>
          </a:p>
          <a:p>
            <a:pPr algn="l"/>
            <a:r>
              <a:rPr sz="2200" b="0">
                <a:solidFill>
                  <a:srgbClr val="112233"/>
                </a:solidFill>
                <a:latin typeface="Calibri"/>
              </a:rPr>
              <a:t>When done: re-read your notes on Lesson 3-5.</a:t>
            </a:r>
          </a:p>
        </p:txBody>
      </p:sp>
      <p:sp>
        <p:nvSpPr>
          <p:cNvPr id="10" name="Rectangle 9"/>
          <p:cNvSpPr/>
          <p:nvPr/>
        </p:nvSpPr>
        <p:spPr>
          <a:xfrm>
            <a:off x="0" y="6263640"/>
            <a:ext cx="12191695" cy="594360"/>
          </a:xfrm>
          <a:prstGeom prst="rect">
            <a:avLst/>
          </a:prstGeom>
          <a:solidFill>
            <a:srgbClr val="D94E2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57200" y="6327648"/>
            <a:ext cx="112471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FFFFFF"/>
                </a:solidFill>
                <a:latin typeface="Calibri"/>
              </a:rPr>
              <a:t>5 minutes. Silent. Pencil only. No Desmos.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EAF2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88720"/>
          </a:xfrm>
          <a:prstGeom prst="rect">
            <a:avLst/>
          </a:prstGeom>
          <a:solidFill>
            <a:srgbClr val="0B3C6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86868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400" b="1">
                <a:solidFill>
                  <a:srgbClr val="FFFFFF"/>
                </a:solidFill>
                <a:latin typeface="Calibri"/>
              </a:rPr>
              <a:t>Quiz — Savvas Lesson Quiz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749808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CCDDEE"/>
                </a:solidFill>
                <a:latin typeface="Calibri"/>
              </a:rPr>
              <a:t>Phase 2/5  ·  Algebra 2  ·  Lesson 3-5  ·  Day 8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9418320" y="365760"/>
            <a:ext cx="1261872" cy="320040"/>
          </a:xfrm>
          <a:prstGeom prst="roundRect">
            <a:avLst>
              <a:gd name="adj" fmla="val 50000"/>
            </a:avLst>
          </a:prstGeom>
          <a:solidFill>
            <a:srgbClr val="2233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 rIns="73152"/>
          <a:lstStyle/>
          <a:p>
            <a:pPr algn="ctr"/>
            <a:r>
              <a:rPr sz="1100" b="1">
                <a:solidFill>
                  <a:srgbClr val="FFFFFF"/>
                </a:solidFill>
                <a:latin typeface="Calibri"/>
              </a:rPr>
              <a:t>Assessment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10753344" y="365760"/>
            <a:ext cx="960120" cy="320040"/>
          </a:xfrm>
          <a:prstGeom prst="roundRect">
            <a:avLst>
              <a:gd name="adj" fmla="val 50000"/>
            </a:avLst>
          </a:prstGeom>
          <a:solidFill>
            <a:srgbClr val="1E6FC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 rIns="73152"/>
          <a:lstStyle/>
          <a:p>
            <a:pPr algn="ctr"/>
            <a:r>
              <a:rPr sz="1100" b="1">
                <a:solidFill>
                  <a:srgbClr val="FFFFFF"/>
                </a:solidFill>
                <a:latin typeface="Calibri"/>
              </a:rPr>
              <a:t>DOK 1–2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418320" y="777240"/>
            <a:ext cx="2286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CCDDEE"/>
                </a:solidFill>
                <a:latin typeface="Calibri"/>
              </a:rPr>
              <a:t>25 min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1463040"/>
            <a:ext cx="11064240" cy="4846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900" b="0">
                <a:solidFill>
                  <a:srgbClr val="112233"/>
                </a:solidFill>
                <a:latin typeface="Calibri"/>
              </a:rPr>
              <a:t>Savvas Lesson Quiz  (6 items, 25 minutes):</a:t>
            </a:r>
          </a:p>
          <a:p>
            <a:pPr algn="l"/>
            <a:r>
              <a:rPr sz="1900" b="0">
                <a:solidFill>
                  <a:srgbClr val="112233"/>
                </a:solidFill>
                <a:latin typeface="Calibri"/>
              </a:rPr>
              <a:t/>
            </a:r>
          </a:p>
          <a:p>
            <a:pPr algn="l"/>
            <a:r>
              <a:rPr sz="1900" b="0">
                <a:solidFill>
                  <a:srgbClr val="112233"/>
                </a:solidFill>
                <a:latin typeface="Calibri"/>
              </a:rPr>
              <a:t>  Q1a.  What are all the zeros of f(x) = x³ + 2x² − 3x?</a:t>
            </a:r>
          </a:p>
          <a:p>
            <a:pPr algn="l"/>
            <a:r>
              <a:rPr sz="1900" b="0">
                <a:solidFill>
                  <a:srgbClr val="112233"/>
                </a:solidFill>
                <a:latin typeface="Calibri"/>
              </a:rPr>
              <a:t>  Q1b.  Use the zeros of f(x) = x³ + 2x² − 3x to sketch the graph of f.</a:t>
            </a:r>
          </a:p>
          <a:p>
            <a:pPr algn="l"/>
            <a:r>
              <a:rPr sz="1900" b="0">
                <a:solidFill>
                  <a:srgbClr val="112233"/>
                </a:solidFill>
                <a:latin typeface="Calibri"/>
              </a:rPr>
              <a:t>  Q2.   What x−values are solutions of x³ + 5x² − x − 7 = x² + 6x + 3? Simplify the polynomial and</a:t>
            </a:r>
          </a:p>
          <a:p>
            <a:pPr algn="l"/>
            <a:r>
              <a:rPr sz="1900" b="0">
                <a:solidFill>
                  <a:srgbClr val="112233"/>
                </a:solidFill>
                <a:latin typeface="Calibri"/>
              </a:rPr>
              <a:t>  Q3.   What values of x are solutions of the inequality x³ − 4x &gt; 0?</a:t>
            </a:r>
          </a:p>
          <a:p>
            <a:pPr algn="l"/>
            <a:r>
              <a:rPr sz="1900" b="0">
                <a:solidFill>
                  <a:srgbClr val="112233"/>
                </a:solidFill>
                <a:latin typeface="Calibri"/>
              </a:rPr>
              <a:t>  Q4.   What are the zeros and their multiplicities for the function y = x³ + 3x² + x + 3, shown i</a:t>
            </a:r>
          </a:p>
          <a:p>
            <a:pPr algn="l"/>
            <a:r>
              <a:rPr sz="1900" b="0">
                <a:solidFill>
                  <a:srgbClr val="112233"/>
                </a:solidFill>
                <a:latin typeface="Calibri"/>
              </a:rPr>
              <a:t>  Q5.   Find the zeros of f(x) = −x³ − 2x² + 7x − 4. Then describe the behavior of the graph of f </a:t>
            </a:r>
          </a:p>
        </p:txBody>
      </p:sp>
      <p:sp>
        <p:nvSpPr>
          <p:cNvPr id="10" name="Rectangle 9"/>
          <p:cNvSpPr/>
          <p:nvPr/>
        </p:nvSpPr>
        <p:spPr>
          <a:xfrm>
            <a:off x="0" y="6263640"/>
            <a:ext cx="12191695" cy="594360"/>
          </a:xfrm>
          <a:prstGeom prst="rect">
            <a:avLst/>
          </a:prstGeom>
          <a:solidFill>
            <a:srgbClr val="D94E2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57200" y="6327648"/>
            <a:ext cx="112471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FFFFFF"/>
                </a:solidFill>
                <a:latin typeface="Calibri"/>
              </a:rPr>
              <a:t>Silent. Pencil only. No Desmos. Show all work.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EAF2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88720"/>
          </a:xfrm>
          <a:prstGeom prst="rect">
            <a:avLst/>
          </a:prstGeom>
          <a:solidFill>
            <a:srgbClr val="0B3C6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86868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400" b="1">
                <a:solidFill>
                  <a:srgbClr val="FFFFFF"/>
                </a:solidFill>
                <a:latin typeface="Calibri"/>
              </a:rPr>
              <a:t>Stations — Differentiated Practice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749808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CCDDEE"/>
                </a:solidFill>
                <a:latin typeface="Calibri"/>
              </a:rPr>
              <a:t>Phase 3/5  ·  Algebra 2  ·  Lesson 3-5  ·  Day 8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9418320" y="365760"/>
            <a:ext cx="1060704" cy="320040"/>
          </a:xfrm>
          <a:prstGeom prst="roundRect">
            <a:avLst>
              <a:gd name="adj" fmla="val 50000"/>
            </a:avLst>
          </a:prstGeom>
          <a:solidFill>
            <a:srgbClr val="2233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 rIns="73152"/>
          <a:lstStyle/>
          <a:p>
            <a:pPr algn="ctr"/>
            <a:r>
              <a:rPr sz="1100" b="1">
                <a:solidFill>
                  <a:srgbClr val="FFFFFF"/>
                </a:solidFill>
                <a:latin typeface="Calibri"/>
              </a:rPr>
              <a:t>Stations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10552176" y="365760"/>
            <a:ext cx="758952" cy="320040"/>
          </a:xfrm>
          <a:prstGeom prst="roundRect">
            <a:avLst>
              <a:gd name="adj" fmla="val 50000"/>
            </a:avLst>
          </a:prstGeom>
          <a:solidFill>
            <a:srgbClr val="1E6FC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 rIns="73152"/>
          <a:lstStyle/>
          <a:p>
            <a:pPr algn="ctr"/>
            <a:r>
              <a:rPr sz="1100" b="1">
                <a:solidFill>
                  <a:srgbClr val="FFFFFF"/>
                </a:solidFill>
                <a:latin typeface="Calibri"/>
              </a:rPr>
              <a:t>DOK 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418320" y="777240"/>
            <a:ext cx="2286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CCDDEE"/>
                </a:solidFill>
                <a:latin typeface="Calibri"/>
              </a:rPr>
              <a:t>18 min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1463040"/>
            <a:ext cx="11064240" cy="4846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0">
                <a:solidFill>
                  <a:srgbClr val="112233"/>
                </a:solidFill>
                <a:latin typeface="Calibri"/>
              </a:rPr>
              <a:t>Rate yourself  1 / 2 / 3  on how the quiz felt.</a:t>
            </a:r>
          </a:p>
          <a:p>
            <a:pPr algn="l"/>
            <a:r>
              <a:rPr sz="2200" b="0">
                <a:solidFill>
                  <a:srgbClr val="112233"/>
                </a:solidFill>
                <a:latin typeface="Calibri"/>
              </a:rPr>
              <a:t/>
            </a:r>
          </a:p>
          <a:p>
            <a:pPr algn="l"/>
            <a:r>
              <a:rPr sz="2200" b="0">
                <a:solidFill>
                  <a:srgbClr val="112233"/>
                </a:solidFill>
                <a:latin typeface="Calibri"/>
              </a:rPr>
              <a:t>  ►  1 (needed help)    →  Support station  (re-teach: factoring + multiplicity)</a:t>
            </a:r>
          </a:p>
          <a:p>
            <a:pPr algn="l"/>
            <a:r>
              <a:rPr sz="2200" b="0">
                <a:solidFill>
                  <a:srgbClr val="112233"/>
                </a:solidFill>
                <a:latin typeface="Calibri"/>
              </a:rPr>
              <a:t>  ►  2 (mostly there)  →  Core station      (sign chart + complex zeros)</a:t>
            </a:r>
          </a:p>
          <a:p>
            <a:pPr algn="l"/>
            <a:r>
              <a:rPr sz="2200" b="0">
                <a:solidFill>
                  <a:srgbClr val="112233"/>
                </a:solidFill>
                <a:latin typeface="Calibri"/>
              </a:rPr>
              <a:t>  ►  3 (confident)     →  Extend station    (firework modeling, DOK 3)</a:t>
            </a:r>
          </a:p>
          <a:p>
            <a:pPr algn="l"/>
            <a:r>
              <a:rPr sz="2200" b="0">
                <a:solidFill>
                  <a:srgbClr val="112233"/>
                </a:solidFill>
                <a:latin typeface="Calibri"/>
              </a:rPr>
              <a:t/>
            </a:r>
          </a:p>
          <a:p>
            <a:pPr algn="l"/>
            <a:r>
              <a:rPr sz="2200" b="0">
                <a:solidFill>
                  <a:srgbClr val="112233"/>
                </a:solidFill>
                <a:latin typeface="Calibri"/>
              </a:rPr>
              <a:t>Circle your station(s) on the student packet.</a:t>
            </a:r>
          </a:p>
          <a:p>
            <a:pPr algn="l"/>
            <a:r>
              <a:rPr sz="2200" b="0">
                <a:solidFill>
                  <a:srgbClr val="112233"/>
                </a:solidFill>
                <a:latin typeface="Calibri"/>
              </a:rPr>
              <a:t>You have 18 minutes. You may do 2 stations.</a:t>
            </a:r>
          </a:p>
        </p:txBody>
      </p:sp>
      <p:sp>
        <p:nvSpPr>
          <p:cNvPr id="10" name="Rectangle 9"/>
          <p:cNvSpPr/>
          <p:nvPr/>
        </p:nvSpPr>
        <p:spPr>
          <a:xfrm>
            <a:off x="0" y="6263640"/>
            <a:ext cx="12191695" cy="594360"/>
          </a:xfrm>
          <a:prstGeom prst="rect">
            <a:avLst/>
          </a:prstGeom>
          <a:solidFill>
            <a:srgbClr val="D94E2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57200" y="6327648"/>
            <a:ext cx="112471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FFFFFF"/>
                </a:solidFill>
                <a:latin typeface="Calibri"/>
              </a:rPr>
              <a:t>Student choice. Support → Core → Extend.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EAF2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88720"/>
          </a:xfrm>
          <a:prstGeom prst="rect">
            <a:avLst/>
          </a:prstGeom>
          <a:solidFill>
            <a:srgbClr val="0B3C6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86868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400" b="1">
                <a:solidFill>
                  <a:srgbClr val="FFFFFF"/>
                </a:solidFill>
                <a:latin typeface="Calibri"/>
              </a:rPr>
              <a:t>Station Tasks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749808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CCDDEE"/>
                </a:solidFill>
                <a:latin typeface="Calibri"/>
              </a:rPr>
              <a:t>Phase 4/5  ·  Algebra 2  ·  Lesson 3-5  ·  Day 8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9418320" y="365760"/>
            <a:ext cx="1060704" cy="320040"/>
          </a:xfrm>
          <a:prstGeom prst="roundRect">
            <a:avLst>
              <a:gd name="adj" fmla="val 50000"/>
            </a:avLst>
          </a:prstGeom>
          <a:solidFill>
            <a:srgbClr val="2233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 rIns="73152"/>
          <a:lstStyle/>
          <a:p>
            <a:pPr algn="ctr"/>
            <a:r>
              <a:rPr sz="1100" b="1">
                <a:solidFill>
                  <a:srgbClr val="FFFFFF"/>
                </a:solidFill>
                <a:latin typeface="Calibri"/>
              </a:rPr>
              <a:t>Stations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10552176" y="365760"/>
            <a:ext cx="960120" cy="320040"/>
          </a:xfrm>
          <a:prstGeom prst="roundRect">
            <a:avLst>
              <a:gd name="adj" fmla="val 50000"/>
            </a:avLst>
          </a:prstGeom>
          <a:solidFill>
            <a:srgbClr val="1E6FC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 rIns="73152"/>
          <a:lstStyle/>
          <a:p>
            <a:pPr algn="ctr"/>
            <a:r>
              <a:rPr sz="1100" b="1">
                <a:solidFill>
                  <a:srgbClr val="FFFFFF"/>
                </a:solidFill>
                <a:latin typeface="Calibri"/>
              </a:rPr>
              <a:t>DOK 1–3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418320" y="777240"/>
            <a:ext cx="2286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CCDDEE"/>
                </a:solidFill>
                <a:latin typeface="Calibri"/>
              </a:rPr>
              <a:t>18 min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1463040"/>
            <a:ext cx="11064240" cy="4846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0">
                <a:solidFill>
                  <a:srgbClr val="112233"/>
                </a:solidFill>
                <a:latin typeface="Calibri"/>
              </a:rPr>
              <a:t>SUPPORT  [3-5-savvas-q14, 3-5-blooket-day3-multiplicity-q1]</a:t>
            </a:r>
          </a:p>
          <a:p>
            <a:pPr algn="l"/>
            <a:r>
              <a:rPr sz="2000" b="0">
                <a:solidFill>
                  <a:srgbClr val="112233"/>
                </a:solidFill>
                <a:latin typeface="Calibri"/>
              </a:rPr>
              <a:t>  Find zeros, state multiplicity, describe behavior (crosses / tangent).</a:t>
            </a:r>
          </a:p>
          <a:p>
            <a:pPr algn="l"/>
            <a:r>
              <a:rPr sz="2000" b="0">
                <a:solidFill>
                  <a:srgbClr val="112233"/>
                </a:solidFill>
                <a:latin typeface="Calibri"/>
              </a:rPr>
              <a:t/>
            </a:r>
          </a:p>
          <a:p>
            <a:pPr algn="l"/>
            <a:r>
              <a:rPr sz="2000" b="0">
                <a:solidFill>
                  <a:srgbClr val="112233"/>
                </a:solidFill>
                <a:latin typeface="Calibri"/>
              </a:rPr>
              <a:t>CORE  [3-5-savvas-q17  +  3-5-savvas-q22]</a:t>
            </a:r>
          </a:p>
          <a:p>
            <a:pPr algn="l"/>
            <a:r>
              <a:rPr sz="2000" b="0">
                <a:solidFill>
                  <a:srgbClr val="112233"/>
                </a:solidFill>
                <a:latin typeface="Calibri"/>
              </a:rPr>
              <a:t>  Real + complex zeros; polynomial inequality sign chart.</a:t>
            </a:r>
          </a:p>
          <a:p>
            <a:pPr algn="l"/>
            <a:r>
              <a:rPr sz="2000" b="0">
                <a:solidFill>
                  <a:srgbClr val="112233"/>
                </a:solidFill>
                <a:latin typeface="Calibri"/>
              </a:rPr>
              <a:t/>
            </a:r>
          </a:p>
          <a:p>
            <a:pPr algn="l"/>
            <a:r>
              <a:rPr sz="2000" b="0">
                <a:solidFill>
                  <a:srgbClr val="112233"/>
                </a:solidFill>
                <a:latin typeface="Calibri"/>
              </a:rPr>
              <a:t>EXTEND  [3-5-savvas-q25]  — DOK 3</a:t>
            </a:r>
          </a:p>
          <a:p>
            <a:pPr algn="l"/>
            <a:r>
              <a:rPr sz="2000" b="0">
                <a:solidFill>
                  <a:srgbClr val="112233"/>
                </a:solidFill>
                <a:latin typeface="Calibri"/>
              </a:rPr>
              <a:t>  Firework height model: domain, zeros in context, vertex.</a:t>
            </a:r>
          </a:p>
          <a:p>
            <a:pPr algn="l"/>
            <a:r>
              <a:rPr sz="2000" b="0">
                <a:solidFill>
                  <a:srgbClr val="112233"/>
                </a:solidFill>
                <a:latin typeface="Calibri"/>
              </a:rPr>
              <a:t/>
            </a:r>
          </a:p>
          <a:p>
            <a:pPr algn="l"/>
            <a:r>
              <a:rPr sz="2000" b="0">
                <a:solidFill>
                  <a:srgbClr val="112233"/>
                </a:solidFill>
                <a:latin typeface="Calibri"/>
              </a:rPr>
              <a:t>All items from Savvas bank. Show full work on the student packet.</a:t>
            </a:r>
          </a:p>
        </p:txBody>
      </p:sp>
      <p:sp>
        <p:nvSpPr>
          <p:cNvPr id="10" name="Rectangle 9"/>
          <p:cNvSpPr/>
          <p:nvPr/>
        </p:nvSpPr>
        <p:spPr>
          <a:xfrm>
            <a:off x="0" y="6263640"/>
            <a:ext cx="12191695" cy="594360"/>
          </a:xfrm>
          <a:prstGeom prst="rect">
            <a:avLst/>
          </a:prstGeom>
          <a:solidFill>
            <a:srgbClr val="D94E2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57200" y="6327648"/>
            <a:ext cx="112471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FFFFFF"/>
                </a:solidFill>
                <a:latin typeface="Calibri"/>
              </a:rPr>
              <a:t>Teacher circulates. Questions only — no answers given.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EAF2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88720"/>
          </a:xfrm>
          <a:prstGeom prst="rect">
            <a:avLst/>
          </a:prstGeom>
          <a:solidFill>
            <a:srgbClr val="0B3C6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86868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400" b="1">
                <a:solidFill>
                  <a:srgbClr val="FFFFFF"/>
                </a:solidFill>
                <a:latin typeface="Calibri"/>
              </a:rPr>
              <a:t>Exit — Summary Recap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749808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CCDDEE"/>
                </a:solidFill>
                <a:latin typeface="Calibri"/>
              </a:rPr>
              <a:t>Phase 5/5  ·  Algebra 2  ·  Lesson 3-5  ·  Day 8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9418320" y="365760"/>
            <a:ext cx="658368" cy="320040"/>
          </a:xfrm>
          <a:prstGeom prst="roundRect">
            <a:avLst>
              <a:gd name="adj" fmla="val 50000"/>
            </a:avLst>
          </a:prstGeom>
          <a:solidFill>
            <a:srgbClr val="2233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 rIns="73152"/>
          <a:lstStyle/>
          <a:p>
            <a:pPr algn="ctr"/>
            <a:r>
              <a:rPr sz="1100" b="1">
                <a:solidFill>
                  <a:srgbClr val="FFFFFF"/>
                </a:solidFill>
                <a:latin typeface="Calibri"/>
              </a:rPr>
              <a:t>Exit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10149840" y="365760"/>
            <a:ext cx="960120" cy="320040"/>
          </a:xfrm>
          <a:prstGeom prst="roundRect">
            <a:avLst>
              <a:gd name="adj" fmla="val 50000"/>
            </a:avLst>
          </a:prstGeom>
          <a:solidFill>
            <a:srgbClr val="1E6FC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 rIns="73152"/>
          <a:lstStyle/>
          <a:p>
            <a:pPr algn="ctr"/>
            <a:r>
              <a:rPr sz="1100" b="1">
                <a:solidFill>
                  <a:srgbClr val="FFFFFF"/>
                </a:solidFill>
                <a:latin typeface="Calibri"/>
              </a:rPr>
              <a:t>DOK 1–2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418320" y="777240"/>
            <a:ext cx="2286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CCDDEE"/>
                </a:solidFill>
                <a:latin typeface="Calibri"/>
              </a:rPr>
              <a:t>5 min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1463040"/>
            <a:ext cx="11064240" cy="4846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100" b="0">
                <a:solidFill>
                  <a:srgbClr val="112233"/>
                </a:solidFill>
                <a:latin typeface="Calibri"/>
              </a:rPr>
              <a:t>Fill in the blanks on your packet (no notes, no Desmos):</a:t>
            </a:r>
          </a:p>
          <a:p>
            <a:pPr algn="l"/>
            <a:r>
              <a:rPr sz="2100" b="0">
                <a:solidFill>
                  <a:srgbClr val="112233"/>
                </a:solidFill>
                <a:latin typeface="Calibri"/>
              </a:rPr>
              <a:t/>
            </a:r>
          </a:p>
          <a:p>
            <a:pPr algn="l"/>
            <a:r>
              <a:rPr sz="2100" b="0">
                <a:solidFill>
                  <a:srgbClr val="112233"/>
                </a:solidFill>
                <a:latin typeface="Calibri"/>
              </a:rPr>
              <a:t>1.  A zero of a polynomial is an x-value where f(x) = ___.  The graph ___ or is ___ at that point.</a:t>
            </a:r>
          </a:p>
          <a:p>
            <a:pPr algn="l"/>
            <a:r>
              <a:rPr sz="2100" b="0">
                <a:solidFill>
                  <a:srgbClr val="112233"/>
                </a:solidFill>
                <a:latin typeface="Calibri"/>
              </a:rPr>
              <a:t/>
            </a:r>
          </a:p>
          <a:p>
            <a:pPr algn="l"/>
            <a:r>
              <a:rPr sz="2100" b="0">
                <a:solidFill>
                  <a:srgbClr val="112233"/>
                </a:solidFill>
                <a:latin typeface="Calibri"/>
              </a:rPr>
              <a:t>2.  EVEN multiplicity → graph is ___ to the x-axis (turning point).</a:t>
            </a:r>
          </a:p>
          <a:p>
            <a:pPr algn="l"/>
            <a:r>
              <a:rPr sz="2100" b="0">
                <a:solidFill>
                  <a:srgbClr val="112233"/>
                </a:solidFill>
                <a:latin typeface="Calibri"/>
              </a:rPr>
              <a:t/>
            </a:r>
          </a:p>
          <a:p>
            <a:pPr algn="l"/>
            <a:r>
              <a:rPr sz="2100" b="0">
                <a:solidFill>
                  <a:srgbClr val="112233"/>
                </a:solidFill>
                <a:latin typeface="Calibri"/>
              </a:rPr>
              <a:t>3.  To solve a polynomial inequality: find ___ and build a ___ chart.</a:t>
            </a:r>
          </a:p>
          <a:p>
            <a:pPr algn="l"/>
            <a:r>
              <a:rPr sz="2100" b="0">
                <a:solidFill>
                  <a:srgbClr val="112233"/>
                </a:solidFill>
                <a:latin typeface="Calibri"/>
              </a:rPr>
              <a:t/>
            </a:r>
          </a:p>
          <a:p>
            <a:pPr algn="l"/>
            <a:r>
              <a:rPr sz="2100" b="0">
                <a:solidFill>
                  <a:srgbClr val="112233"/>
                </a:solidFill>
                <a:latin typeface="Calibri"/>
              </a:rPr>
              <a:t>4.  My biggest takeaway from Lesson 3-5 (one sentence):</a:t>
            </a:r>
          </a:p>
          <a:p>
            <a:pPr algn="l"/>
            <a:r>
              <a:rPr sz="2100" b="0">
                <a:solidFill>
                  <a:srgbClr val="112233"/>
                </a:solidFill>
                <a:latin typeface="Calibri"/>
              </a:rPr>
              <a:t>    Place packets on the front desk as you leave.</a:t>
            </a:r>
          </a:p>
        </p:txBody>
      </p:sp>
      <p:sp>
        <p:nvSpPr>
          <p:cNvPr id="10" name="Rectangle 9"/>
          <p:cNvSpPr/>
          <p:nvPr/>
        </p:nvSpPr>
        <p:spPr>
          <a:xfrm>
            <a:off x="0" y="6263640"/>
            <a:ext cx="12191695" cy="594360"/>
          </a:xfrm>
          <a:prstGeom prst="rect">
            <a:avLst/>
          </a:prstGeom>
          <a:solidFill>
            <a:srgbClr val="D94E2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57200" y="6327648"/>
            <a:ext cx="112471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FFFFFF"/>
                </a:solidFill>
                <a:latin typeface="Calibri"/>
              </a:rPr>
              <a:t>Packets to the front. Pack up.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3C6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2103120"/>
            <a:ext cx="109728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5000" b="1">
                <a:solidFill>
                  <a:srgbClr val="FFFFFF"/>
                </a:solidFill>
                <a:latin typeface="Calibri"/>
              </a:rPr>
              <a:t>Great work.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3749039"/>
            <a:ext cx="1097280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200" b="0">
                <a:solidFill>
                  <a:srgbClr val="DDEEFF"/>
                </a:solidFill>
                <a:latin typeface="Calibri"/>
              </a:rPr>
              <a:t>Collect:  Do Now sheets  ·  Quiz packets  ·  Student packets</a:t>
            </a:r>
          </a:p>
          <a:p>
            <a:pPr algn="ctr"/>
            <a:r>
              <a:rPr sz="2200" b="0">
                <a:solidFill>
                  <a:srgbClr val="DDEEFF"/>
                </a:solidFill>
                <a:latin typeface="Calibri"/>
              </a:rPr>
              <a:t/>
            </a:r>
          </a:p>
          <a:p>
            <a:pPr algn="ctr"/>
            <a:r>
              <a:rPr sz="2200" b="0">
                <a:solidFill>
                  <a:srgbClr val="DDEEFF"/>
                </a:solidFill>
                <a:latin typeface="Calibri"/>
              </a:rPr>
              <a:t>Lesson 3-5 complete. On to Lesson 3-6.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