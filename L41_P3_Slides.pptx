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Calibri"/>
              </a:rPr>
              <a:t>Lesson 4-1 · Period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BBD0E6"/>
                </a:solidFill>
                <a:latin typeface="Calibri"/>
              </a:rPr>
              <a:t>Reciprocal Function + Translations (Assessment-Critical)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3035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88AACC"/>
                </a:solidFill>
                <a:latin typeface="Calibri"/>
              </a:rPr>
              <a:t>Klimsara-adapted · Student-centered · No Blooket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B3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Do Now — Generalize + Predict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BD0E6"/>
                </a:solidFill>
                <a:latin typeface="Calibri"/>
              </a:rPr>
              <a:t>Algebra 2  ·  Lesson 4-1  ·  Period 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875520" y="228600"/>
            <a:ext cx="777240" cy="320040"/>
          </a:xfrm>
          <a:prstGeom prst="roundRect">
            <a:avLst>
              <a:gd name="adj" fmla="val 50000"/>
            </a:avLst>
          </a:prstGeom>
          <a:solidFill>
            <a:srgbClr val="C88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DOK 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44200" y="228600"/>
            <a:ext cx="777240" cy="32004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5 min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875520" y="658368"/>
            <a:ext cx="1682496" cy="320040"/>
          </a:xfrm>
          <a:prstGeom prst="roundRect">
            <a:avLst>
              <a:gd name="adj" fmla="val 50000"/>
            </a:avLst>
          </a:prstGeom>
          <a:solidFill>
            <a:srgbClr val="1E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bridge from P2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554480"/>
            <a:ext cx="11064240" cy="5029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C88B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69164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C88B14"/>
                </a:solidFill>
                <a:latin typeface="Calibri"/>
              </a:rPr>
              <a:t>Practice #13 · Generalize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24028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Write k in terms of x and y for an inverse variation.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/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Then 30-second prediction: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  What does the graph of y = 1/x LOOK like?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  (No wrong answers — just predict.)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B3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Launch — Example 4 + Example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BD0E6"/>
                </a:solidFill>
                <a:latin typeface="Calibri"/>
              </a:rPr>
              <a:t>Algebra 2  ·  Lesson 4-1  ·  Period 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875520" y="228600"/>
            <a:ext cx="777240" cy="320040"/>
          </a:xfrm>
          <a:prstGeom prst="roundRect">
            <a:avLst>
              <a:gd name="adj" fmla="val 50000"/>
            </a:avLst>
          </a:prstGeom>
          <a:solidFill>
            <a:srgbClr val="C88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DOK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44200" y="228600"/>
            <a:ext cx="877824" cy="32004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12 min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875520" y="658368"/>
            <a:ext cx="2788920" cy="320040"/>
          </a:xfrm>
          <a:prstGeom prst="roundRect">
            <a:avLst>
              <a:gd name="adj" fmla="val 50000"/>
            </a:avLst>
          </a:prstGeom>
          <a:solidFill>
            <a:srgbClr val="1E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teacher models 2 examples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554480"/>
            <a:ext cx="11064240" cy="21945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69164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8B57"/>
                </a:solidFill>
                <a:latin typeface="Calibri"/>
              </a:rPr>
              <a:t>📘 Parent Reciprocal Function · f(x) = 1/x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24028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• Vertical asymptote: x = 0        • Horizontal asymptote: y = 0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• Domain: {x | x ≠ 0}              • Range: {y | y ≠ 0}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• Graph: hyperbola in Quadrants I and III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840480"/>
            <a:ext cx="11064240" cy="26517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C88B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97764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C88B14"/>
                </a:solidFill>
                <a:latin typeface="Calibri"/>
              </a:rPr>
              <a:t>📘 Translated Reciprocal · g(x) = 1/(x − h) + 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52628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• Vertical asymptote shifts to  x = h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• Horizontal asymptote shifts to  y = k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• Center (asymptote intersection): (h, k)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• Example: g(x) = 1/(x − 3) + 2 → asymptotes x = 3, y = 2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/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y-intercept: set x = 0 → y = −1/h + k        x-intercept: set y = 0 → x = h − 1/k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B3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Explore — TPS · Assessment Rehearsal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BD0E6"/>
                </a:solidFill>
                <a:latin typeface="Calibri"/>
              </a:rPr>
              <a:t>Algebra 2  ·  Lesson 4-1  ·  Period 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875520" y="228600"/>
            <a:ext cx="777240" cy="320040"/>
          </a:xfrm>
          <a:prstGeom prst="roundRect">
            <a:avLst>
              <a:gd name="adj" fmla="val 50000"/>
            </a:avLst>
          </a:prstGeom>
          <a:solidFill>
            <a:srgbClr val="C88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DOK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44200" y="228600"/>
            <a:ext cx="877824" cy="32004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35 min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875520" y="658368"/>
            <a:ext cx="2788920" cy="320040"/>
          </a:xfrm>
          <a:prstGeom prst="roundRect">
            <a:avLst>
              <a:gd name="adj" fmla="val 50000"/>
            </a:avLst>
          </a:prstGeom>
          <a:solidFill>
            <a:srgbClr val="1E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student work · pure DOK-2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46304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56677"/>
                </a:solidFill>
                <a:latin typeface="Calibri"/>
              </a:rPr>
              <a:t>6 items. Plan ~8 min for ⭐ Practice #19 (intercepts + asymptotes).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011680"/>
            <a:ext cx="11064240" cy="7315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1E6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14884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E6FC8"/>
                </a:solidFill>
                <a:latin typeface="Calibri"/>
              </a:rPr>
              <a:t>Try It 4 · Graph g(x) = 10/x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697480"/>
            <a:ext cx="10515600" cy="-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Parent scaled by 10. State asymptotes, domain, range.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788920"/>
            <a:ext cx="11064240" cy="7315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1E6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92608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E6FC8"/>
                </a:solidFill>
                <a:latin typeface="Calibri"/>
              </a:rPr>
              <a:t>Practice #11 · Error Analysis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474720"/>
            <a:ext cx="10515600" cy="-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y = 5/x · Describe the labeling error for (2, 4) and (−2, −4).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566160"/>
            <a:ext cx="11064240" cy="7315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1E6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70332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E6FC8"/>
                </a:solidFill>
                <a:latin typeface="Calibri"/>
              </a:rPr>
              <a:t>Practice #18 · Graph y = −2/x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251960"/>
            <a:ext cx="10515600" cy="-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Reflected parent. State asymptotes, domain, range.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343400"/>
            <a:ext cx="11064240" cy="7315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1E6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48056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E6FC8"/>
                </a:solidFill>
                <a:latin typeface="Calibri"/>
              </a:rPr>
              <a:t>Try It 5 · Graph g(x) = 1/(x+2) − 4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029200"/>
            <a:ext cx="10515600" cy="-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Translated. Identify (h, k), asymptotes, domain, range.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120640"/>
            <a:ext cx="11064240" cy="7315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D94E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525780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D94E2F"/>
                </a:solidFill>
                <a:latin typeface="Calibri"/>
              </a:rPr>
              <a:t>Practice #19  ⭐ ASSESSMENT-CRITICAL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806440"/>
            <a:ext cx="10515600" cy="-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g(x) = 1/(x−2) + 6. Asymptotes + domain/range + INTERCEPTS.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5897880"/>
            <a:ext cx="11064240" cy="7315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1E6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603504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E6FC8"/>
                </a:solidFill>
                <a:latin typeface="Calibri"/>
              </a:rPr>
              <a:t>Practice #21 · Video game storage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6583680"/>
            <a:ext cx="10515600" cy="-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160 games at 2.0 GB. Write equation, complete table, graph.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B3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Share / Summary · Concept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BD0E6"/>
                </a:solidFill>
                <a:latin typeface="Calibri"/>
              </a:rPr>
              <a:t>Algebra 2  ·  Lesson 4-1  ·  Period 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875520" y="228600"/>
            <a:ext cx="777240" cy="320040"/>
          </a:xfrm>
          <a:prstGeom prst="roundRect">
            <a:avLst>
              <a:gd name="adj" fmla="val 50000"/>
            </a:avLst>
          </a:prstGeom>
          <a:solidFill>
            <a:srgbClr val="C88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DOK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44200" y="228600"/>
            <a:ext cx="777240" cy="32004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5 min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875520" y="658368"/>
            <a:ext cx="1883664" cy="320040"/>
          </a:xfrm>
          <a:prstGeom prst="roundRect">
            <a:avLst>
              <a:gd name="adj" fmla="val 50000"/>
            </a:avLst>
          </a:prstGeom>
          <a:solidFill>
            <a:srgbClr val="1E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LEHS 8-Q preview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554480"/>
            <a:ext cx="11064240" cy="5029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1E6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69164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E6FC8"/>
                </a:solidFill>
                <a:latin typeface="Calibri"/>
              </a:rPr>
              <a:t>📊 Concept Summary — Lesson 4-1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24028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INVERSE VARIATION (y = k/x):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  As one variable increases, the other decreases. k is constant.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/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TRANSLATED RECIPROCAL (y = a/(x − h) + k):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  Asymptotes shift to x = h and y = k.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  (h, k) is the new center.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/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🎯 Topic 4 8-Q assessment: expect Q#3 on asymptotes, Q#5 on translation descriptions.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B3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Exit Ticket — Pre-Assessment Confidence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BD0E6"/>
                </a:solidFill>
                <a:latin typeface="Calibri"/>
              </a:rPr>
              <a:t>Algebra 2  ·  Lesson 4-1  ·  Period 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875520" y="228600"/>
            <a:ext cx="978408" cy="320040"/>
          </a:xfrm>
          <a:prstGeom prst="roundRect">
            <a:avLst>
              <a:gd name="adj" fmla="val 50000"/>
            </a:avLst>
          </a:prstGeom>
          <a:solidFill>
            <a:srgbClr val="C88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DOK 1-2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45368" y="228600"/>
            <a:ext cx="777240" cy="32004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 min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875520" y="658368"/>
            <a:ext cx="1883664" cy="320040"/>
          </a:xfrm>
          <a:prstGeom prst="roundRect">
            <a:avLst>
              <a:gd name="adj" fmla="val 50000"/>
            </a:avLst>
          </a:prstGeom>
          <a:solidFill>
            <a:srgbClr val="1E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confidence check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645920"/>
            <a:ext cx="11064240" cy="4572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C88B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78308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C88B14"/>
                </a:solidFill>
                <a:latin typeface="Calibri"/>
              </a:rPr>
              <a:t>✍️ Rate yourself 1–5 + name one review item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331720"/>
            <a:ext cx="1051560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• I can identify asymptotes of y = 1/(x−h) + k.  Confidence: 1 / 2 / 3 / 4 / 5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• I can describe a translation from f(x) = 1/x to g(x).  Confidence: 1 / 2 / 3 / 4 / 5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/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One thing I want to review before Topic 4 assessment: ___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