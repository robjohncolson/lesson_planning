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CCDDEE"/>
                </a:solidFill>
                <a:latin typeface="Calibri"/>
              </a:rPr>
              <a:t>ALGEBRA 2  ·  LESSON 3-5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Combined Day 4-5  —  Real + Complex Zeros + Modeling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0"/>
            <a:ext cx="10972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DDEEFF"/>
                </a:solidFill>
                <a:latin typeface="Calibri"/>
              </a:rPr>
              <a:t>Essential Question:</a:t>
            </a:r>
          </a:p>
          <a:p>
            <a:pPr algn="l"/>
            <a:r>
              <a:rPr sz="2200" b="0">
                <a:solidFill>
                  <a:srgbClr val="DDEEFF"/>
                </a:solidFill>
                <a:latin typeface="Calibri"/>
              </a:rPr>
              <a:t>How do synthetic division and the quadratic formula let you find</a:t>
            </a:r>
          </a:p>
          <a:p>
            <a:pPr algn="l"/>
            <a:r>
              <a:rPr sz="2200" b="0">
                <a:solidFill>
                  <a:srgbClr val="DDEEFF"/>
                </a:solidFill>
                <a:latin typeface="Calibri"/>
              </a:rPr>
              <a:t>EVERY zero of a polynomial — and what do those zeros mean when</a:t>
            </a:r>
          </a:p>
          <a:p>
            <a:pPr algn="l"/>
            <a:r>
              <a:rPr sz="2200" b="0">
                <a:solidFill>
                  <a:srgbClr val="DDEEFF"/>
                </a:solidFill>
                <a:latin typeface="Calibri"/>
              </a:rPr>
              <a:t>the polynomial models a real-world quantity like volume?</a:t>
            </a:r>
          </a:p>
          <a:p>
            <a:pPr algn="l"/>
            <a:r>
              <a:rPr sz="2200" b="0">
                <a:solidFill>
                  <a:srgbClr val="DDEEFF"/>
                </a:solidFill>
                <a:latin typeface="Calibri"/>
              </a:rPr>
              <a:t/>
            </a:r>
          </a:p>
          <a:p>
            <a:pPr algn="l"/>
            <a:r>
              <a:rPr sz="2200" b="0">
                <a:solidFill>
                  <a:srgbClr val="DDEEFF"/>
                </a:solidFill>
                <a:latin typeface="Calibri"/>
              </a:rPr>
              <a:t>DOK-3 capstone: Savvas Practice #27 (storage box volume).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8AACC"/>
                </a:solidFill>
                <a:latin typeface="Calibri"/>
              </a:rPr>
              <a:t>55-min lesson  ·  Savvas-declared DOK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Do Now  —  Zeros ⇔ Factors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EE"/>
                </a:solidFill>
                <a:latin typeface="Calibri"/>
              </a:rPr>
              <a:t>Phase 1/8  ·  Algebra 2  ·  Lesson 3-5  ·  Day 4-5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365760"/>
            <a:ext cx="1060704" cy="320040"/>
          </a:xfrm>
          <a:prstGeom prst="roundRect">
            <a:avLst>
              <a:gd name="adj" fmla="val 50000"/>
            </a:avLst>
          </a:prstGeom>
          <a:solidFill>
            <a:srgbClr val="22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 Now 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52176" y="365760"/>
            <a:ext cx="758952" cy="320040"/>
          </a:xfrm>
          <a:prstGeom prst="roundRect">
            <a:avLst>
              <a:gd name="adj" fmla="val 50000"/>
            </a:avLst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777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DDEE"/>
                </a:solidFill>
                <a:latin typeface="Calibri"/>
              </a:rPr>
              <a:t>5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SAVVAS PRACTICE #28  —  Vocabulary</a:t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Complete each statement so it means the same as</a:t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“4 is a zero of the function”:</a:t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  (1)  The graph crosses the _______ at 4.</a:t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  (2)  _______ is a factor of the polynomial.</a:t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Bridge:  If −2 is a zero, one factor is _______.</a:t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         A degree-3 polynomial with only 1 real zero</a:t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         must have _______ complex zeros.</a:t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Silent  ·  Pencil only  ·  No Desmos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D94E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32764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When everyone’s in:  Blooket code on the screen.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Blooket  —  Log 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EE"/>
                </a:solidFill>
                <a:latin typeface="Calibri"/>
              </a:rPr>
              <a:t>Phase 2/8  ·  Algebra 2  ·  Lesson 3-5  ·  Day 4-5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365760"/>
            <a:ext cx="1060704" cy="320040"/>
          </a:xfrm>
          <a:prstGeom prst="roundRect">
            <a:avLst>
              <a:gd name="adj" fmla="val 50000"/>
            </a:avLst>
          </a:prstGeom>
          <a:solidFill>
            <a:srgbClr val="22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 Now 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777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DDEE"/>
                </a:solidFill>
                <a:latin typeface="Calibri"/>
              </a:rPr>
              <a:t>2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556677"/>
                </a:solidFill>
                <a:latin typeface="Calibri"/>
              </a:rPr>
              <a:t>Blooket code: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2377440"/>
            <a:ext cx="941832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38100">
            <a:solidFill>
              <a:srgbClr val="0B3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56616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556677"/>
                </a:solidFill>
                <a:latin typeface="Calibri"/>
              </a:rPr>
              <a:t>( write the code here 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577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12233"/>
                </a:solidFill>
                <a:latin typeface="Calibri"/>
              </a:rPr>
              <a:t>Chromebooks open  ·  Type code  ·  Nickname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D94E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32764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2 minutes to log in. Game waits for no one.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Blooket  —  Rule Recall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EE"/>
                </a:solidFill>
                <a:latin typeface="Calibri"/>
              </a:rPr>
              <a:t>Phase 3/8  ·  Algebra 2  ·  Lesson 3-5  ·  Day 4-5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365760"/>
            <a:ext cx="1060704" cy="320040"/>
          </a:xfrm>
          <a:prstGeom prst="roundRect">
            <a:avLst>
              <a:gd name="adj" fmla="val 50000"/>
            </a:avLst>
          </a:prstGeom>
          <a:solidFill>
            <a:srgbClr val="22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 Now 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52176" y="365760"/>
            <a:ext cx="758952" cy="320040"/>
          </a:xfrm>
          <a:prstGeom prst="roundRect">
            <a:avLst>
              <a:gd name="adj" fmla="val 50000"/>
            </a:avLst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777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DDEE"/>
                </a:solidFill>
                <a:latin typeface="Calibri"/>
              </a:rPr>
              <a:t>7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Rules today’s work depends on:</a:t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  •  Degree n  ⇒  n total zeros (including complex)</a:t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  •  Complex zeros come in CONJUGATE PAIRS  (a + bi with a − bi)</a:t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  •  Factor theorem:  x = c  ⇔  (x − c)</a:t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  •  Synthetic division procedure</a:t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  •  Quadratic formula on the reduced quadratic</a:t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Play fast.  Teacher is watching the dashboard.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D94E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32764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Close game at 0.  “Pull out your Do Now. Packet too.”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Launch  —  Savvas Example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EE"/>
                </a:solidFill>
                <a:latin typeface="Calibri"/>
              </a:rPr>
              <a:t>Phase 4/8  ·  Algebra 2  ·  Lesson 3-5  ·  Day 4-5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365760"/>
            <a:ext cx="859536" cy="320040"/>
          </a:xfrm>
          <a:prstGeom prst="roundRect">
            <a:avLst>
              <a:gd name="adj" fmla="val 50000"/>
            </a:avLst>
          </a:prstGeom>
          <a:solidFill>
            <a:srgbClr val="22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Launch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351008" y="365760"/>
            <a:ext cx="758952" cy="320040"/>
          </a:xfrm>
          <a:prstGeom prst="roundRect">
            <a:avLst>
              <a:gd name="adj" fmla="val 50000"/>
            </a:avLst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777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DDEE"/>
                </a:solidFill>
                <a:latin typeface="Calibri"/>
              </a:rPr>
              <a:t>10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Graph in Desmos:  f(x) = x³ − 2x² − 2x − 3</a:t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  Step 1.  How many times does it cross?  One real zero:  x = 3.</a:t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  Step 2.  Degree 3 → 3 total zeros.  2 unaccounted for.</a:t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  Step 3.  Synthetic division by (x − 3)  →  Q(x) = x² + x + 1</a:t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  Step 4.  Quadratic formula  →  x = (−1 ± i√3) / 2</a:t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THE RULE:  non-real zeros come in CONJUGATE PAIRS.</a:t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THE SHORTCUT:  degree n  ⇒  n total zeros.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D94E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32764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“Packets to Practice.  Try It 3a and 3b.  10 minutes.”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Practice  —  Savvas Try It 3a + 3b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EE"/>
                </a:solidFill>
                <a:latin typeface="Calibri"/>
              </a:rPr>
              <a:t>Phase 5/8  ·  Algebra 2  ·  Lesson 3-5  ·  Day 4-5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365760"/>
            <a:ext cx="1060704" cy="320040"/>
          </a:xfrm>
          <a:prstGeom prst="roundRect">
            <a:avLst>
              <a:gd name="adj" fmla="val 50000"/>
            </a:avLst>
          </a:prstGeom>
          <a:solidFill>
            <a:srgbClr val="22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Practice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52176" y="365760"/>
            <a:ext cx="758952" cy="320040"/>
          </a:xfrm>
          <a:prstGeom prst="roundRect">
            <a:avLst>
              <a:gd name="adj" fmla="val 50000"/>
            </a:avLst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777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DDEE"/>
                </a:solidFill>
                <a:latin typeface="Calibri"/>
              </a:rPr>
              <a:t>10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For each, find ALL real and complex zeros:</a:t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  A.  f(x) = 2x³ − 8x² + 9x           [Try It 3a]</a:t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  B.  f(x) = x⁴ − 3x² − 4               [Try It 3b]</a:t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Show your synthetic-division work.</a:t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Write complex zeros using i.</a:t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Verify:  total zero count = degree.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D94E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32764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“Packet flip.  Storage box next.  Read the rules on the page.”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Storage Box  —  the DOK-3 driver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EE"/>
                </a:solidFill>
                <a:latin typeface="Calibri"/>
              </a:rPr>
              <a:t>Phase 6/8  ·  Algebra 2  ·  Lesson 3-5  ·  Day 4-5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365760"/>
            <a:ext cx="960120" cy="320040"/>
          </a:xfrm>
          <a:prstGeom prst="roundRect">
            <a:avLst>
              <a:gd name="adj" fmla="val 50000"/>
            </a:avLst>
          </a:prstGeom>
          <a:solidFill>
            <a:srgbClr val="22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Explore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451592" y="365760"/>
            <a:ext cx="758952" cy="320040"/>
          </a:xfrm>
          <a:prstGeom prst="roundRect">
            <a:avLst>
              <a:gd name="adj" fmla="val 50000"/>
            </a:avLst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777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DDEE"/>
                </a:solidFill>
                <a:latin typeface="Calibri"/>
              </a:rPr>
              <a:t>15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12233"/>
                </a:solidFill>
                <a:latin typeface="Calibri"/>
              </a:rPr>
              <a:t>SAVVAS PRACTICE #27  —  Model With Mathematics</a:t>
            </a:r>
          </a:p>
          <a:p>
            <a:pPr algn="l"/>
            <a:r>
              <a:rPr sz="20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2000" b="0">
                <a:solidFill>
                  <a:srgbClr val="112233"/>
                </a:solidFill>
                <a:latin typeface="Calibri"/>
              </a:rPr>
              <a:t>Height is LESS than both length and width.</a:t>
            </a:r>
          </a:p>
          <a:p>
            <a:pPr algn="l"/>
            <a:r>
              <a:rPr sz="2000" b="0">
                <a:solidFill>
                  <a:srgbClr val="112233"/>
                </a:solidFill>
                <a:latin typeface="Calibri"/>
              </a:rPr>
              <a:t>Volume:  f(x) = x³ + 2x² − 3x  where x = width (ft).</a:t>
            </a:r>
          </a:p>
          <a:p>
            <a:pPr algn="l"/>
            <a:r>
              <a:rPr sz="20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2000" b="0">
                <a:solidFill>
                  <a:srgbClr val="112233"/>
                </a:solidFill>
                <a:latin typeface="Calibri"/>
              </a:rPr>
              <a:t>  (a)  Factor f(x).</a:t>
            </a:r>
          </a:p>
          <a:p>
            <a:pPr algn="l"/>
            <a:r>
              <a:rPr sz="2000" b="0">
                <a:solidFill>
                  <a:srgbClr val="112233"/>
                </a:solidFill>
                <a:latin typeface="Calibri"/>
              </a:rPr>
              <a:t>  (b)  Find the zeros.</a:t>
            </a:r>
          </a:p>
          <a:p>
            <a:pPr algn="l"/>
            <a:r>
              <a:rPr sz="2000" b="0">
                <a:solidFill>
                  <a:srgbClr val="112233"/>
                </a:solidFill>
                <a:latin typeface="Calibri"/>
              </a:rPr>
              <a:t>  (c)  Match factors to dimensions (use “height is smaller”).</a:t>
            </a:r>
          </a:p>
          <a:p>
            <a:pPr algn="l"/>
            <a:r>
              <a:rPr sz="2000" b="0">
                <a:solidFill>
                  <a:srgbClr val="112233"/>
                </a:solidFill>
                <a:latin typeface="Calibri"/>
              </a:rPr>
              <a:t>  (d)  Find dimensions when V = 10 ft³.</a:t>
            </a:r>
          </a:p>
          <a:p>
            <a:pPr algn="l"/>
            <a:r>
              <a:rPr sz="20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2000" b="0">
                <a:solidFill>
                  <a:srgbClr val="112233"/>
                </a:solidFill>
                <a:latin typeface="Calibri"/>
              </a:rPr>
              <a:t>All rules are on your packet page.  Teacher circulates with prompts only.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D94E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32764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Stuck after 10 min?  Hint card: “Factor first.  Which factor is smaller at x = 2?”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Share /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EE"/>
                </a:solidFill>
                <a:latin typeface="Calibri"/>
              </a:rPr>
              <a:t>Phase 7/8  ·  Algebra 2  ·  Lesson 3-5  ·  Day 4-5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365760"/>
            <a:ext cx="1563624" cy="320040"/>
          </a:xfrm>
          <a:prstGeom prst="roundRect">
            <a:avLst>
              <a:gd name="adj" fmla="val 50000"/>
            </a:avLst>
          </a:prstGeom>
          <a:solidFill>
            <a:srgbClr val="22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Share/Summary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055096" y="365760"/>
            <a:ext cx="758952" cy="320040"/>
          </a:xfrm>
          <a:prstGeom prst="roundRect">
            <a:avLst>
              <a:gd name="adj" fmla="val 50000"/>
            </a:avLst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777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DDEE"/>
                </a:solidFill>
                <a:latin typeface="Calibri"/>
              </a:rPr>
              <a:t>3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Essential Question:</a:t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How do synthetic division and the quadratic formula</a:t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let us find EVERY zero?</a:t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Self-rating on your packet:   ✓  /  partly  /  not yet</a:t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2200" b="0">
                <a:solidFill>
                  <a:srgbClr val="112233"/>
                </a:solidFill>
                <a:latin typeface="Calibri"/>
              </a:rPr>
              <a:t>Preview Day 6:  polynomial inequalities — where is f(x) &gt; 0?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D94E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32764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“Pencils up. Exit ticket. Savvas #17. 5 minutes.”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Exit Ticket  —  Savvas Practice #17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EE"/>
                </a:solidFill>
                <a:latin typeface="Calibri"/>
              </a:rPr>
              <a:t>Phase 8/8  ·  Algebra 2  ·  Lesson 3-5  ·  Day 4-5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365760"/>
            <a:ext cx="1362456" cy="320040"/>
          </a:xfrm>
          <a:prstGeom prst="roundRect">
            <a:avLst>
              <a:gd name="adj" fmla="val 50000"/>
            </a:avLst>
          </a:prstGeom>
          <a:solidFill>
            <a:srgbClr val="22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Exit Ticket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853928" y="365760"/>
            <a:ext cx="758952" cy="320040"/>
          </a:xfrm>
          <a:prstGeom prst="roundRect">
            <a:avLst>
              <a:gd name="adj" fmla="val 50000"/>
            </a:avLst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777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DDEE"/>
                </a:solidFill>
                <a:latin typeface="Calibri"/>
              </a:rPr>
              <a:t>5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>Savvas Practice #17:</a:t>
            </a:r>
          </a:p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>Find all real and complex zeros of the polynomial function</a:t>
            </a:r>
          </a:p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>shown in the graph.</a:t>
            </a:r>
          </a:p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>Then verify: total zero count = degree.</a:t>
            </a:r>
          </a:p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2400" b="0">
                <a:solidFill>
                  <a:srgbClr val="112233"/>
                </a:solidFill>
                <a:latin typeface="Calibri"/>
              </a:rPr>
              <a:t>Place your packet on the front desk as you leave.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D94E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32764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Packets to the front. Pack up. See you next class.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031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1">
                <a:solidFill>
                  <a:srgbClr val="FFFFFF"/>
                </a:solidFill>
                <a:latin typeface="Calibri"/>
              </a:rPr>
              <a:t>Nice work today.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749039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DDEEFF"/>
                </a:solidFill>
                <a:latin typeface="Calibri"/>
              </a:rPr>
              <a:t>Collect:  Exit Ticket  ·  Do Now  ·  Launch + Practice + Storage Box pages</a:t>
            </a:r>
          </a:p>
          <a:p>
            <a:pPr algn="ctr"/>
            <a:r>
              <a:rPr sz="2200" b="0">
                <a:solidFill>
                  <a:srgbClr val="DDEEFF"/>
                </a:solidFill>
                <a:latin typeface="Calibri"/>
              </a:rPr>
              <a:t/>
            </a:r>
          </a:p>
          <a:p>
            <a:pPr algn="ctr"/>
            <a:r>
              <a:rPr sz="2200" b="0">
                <a:solidFill>
                  <a:srgbClr val="DDEEFF"/>
                </a:solidFill>
                <a:latin typeface="Calibri"/>
              </a:rPr>
              <a:t>Day 6 preview:  polynomial inequalities.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