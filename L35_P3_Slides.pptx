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Calibri"/>
              </a:rPr>
              <a:t>Lesson 3-5 · Period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BBD0E6"/>
                </a:solidFill>
                <a:latin typeface="Calibri"/>
              </a:rPr>
              <a:t>Real + Complex Zeros, and Modeling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30352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88AACC"/>
                </a:solidFill>
                <a:latin typeface="Calibri"/>
              </a:rPr>
              <a:t>Klimsara-adapted · Student-centered · No Blooket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B3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libri"/>
              </a:rPr>
              <a:t>Do Now — 5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BD0E6"/>
                </a:solidFill>
                <a:latin typeface="Calibri"/>
              </a:rPr>
              <a:t>Algebra 2  ·  Lesson 3-5  ·  Period 3 (Wed)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875520" y="228600"/>
            <a:ext cx="777240" cy="320040"/>
          </a:xfrm>
          <a:prstGeom prst="roundRect">
            <a:avLst>
              <a:gd name="adj" fmla="val 50000"/>
            </a:avLst>
          </a:prstGeom>
          <a:solidFill>
            <a:srgbClr val="C88B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DOK 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744200" y="228600"/>
            <a:ext cx="777240" cy="32004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5 min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875520" y="658368"/>
            <a:ext cx="877824" cy="320040"/>
          </a:xfrm>
          <a:prstGeom prst="roundRect">
            <a:avLst>
              <a:gd name="adj" fmla="val 50000"/>
            </a:avLst>
          </a:prstGeom>
          <a:solidFill>
            <a:srgbClr val="1E6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bridge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554480"/>
            <a:ext cx="110642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112233"/>
                </a:solidFill>
                <a:latin typeface="Calibri"/>
              </a:rPr>
              <a:t>At what points do the graphs of f(x) = x^3 - 2x^2 - 16x + 20 and g(x) = -12 intersect?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5394960"/>
            <a:ext cx="11064240" cy="12801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D94E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553212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D94E2F"/>
                </a:solidFill>
                <a:latin typeface="Calibri"/>
              </a:rPr>
              <a:t>🔗 Bridge from yesterday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60807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A cubic has zeros 2, 1 + √3, and 1 − √3.</a:t>
            </a:r>
          </a:p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What's the nature of its coefficients —</a:t>
            </a:r>
          </a:p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rational, irrational, or complex? Why?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B3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libri"/>
              </a:rPr>
              <a:t>Launch — Complex Zeros + Modeling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BD0E6"/>
                </a:solidFill>
                <a:latin typeface="Calibri"/>
              </a:rPr>
              <a:t>Algebra 2  ·  Lesson 3-5  ·  Period 3 (Wed)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875520" y="228600"/>
            <a:ext cx="777240" cy="320040"/>
          </a:xfrm>
          <a:prstGeom prst="roundRect">
            <a:avLst>
              <a:gd name="adj" fmla="val 50000"/>
            </a:avLst>
          </a:prstGeom>
          <a:solidFill>
            <a:srgbClr val="C88B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DOK 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744200" y="228600"/>
            <a:ext cx="877824" cy="32004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12 min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875520" y="658368"/>
            <a:ext cx="1682496" cy="320040"/>
          </a:xfrm>
          <a:prstGeom prst="roundRect">
            <a:avLst>
              <a:gd name="adj" fmla="val 50000"/>
            </a:avLst>
          </a:prstGeom>
          <a:solidFill>
            <a:srgbClr val="1E6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teacher models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554480"/>
            <a:ext cx="11064240" cy="50292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69164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E8B57"/>
                </a:solidFill>
                <a:latin typeface="Calibri"/>
              </a:rPr>
              <a:t>📘 Complex-Zero Conjugate Rule + Modeling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24028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• A polynomial with REAL coefficients has complex zeros in CONJUGATE PAIRS.</a:t>
            </a:r>
          </a:p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• If (a + bi) is a zero, then (a − bi) must also be a zero.</a:t>
            </a:r>
          </a:p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• A degree-n polynomial has exactly n zeros (with multiplicity).</a:t>
            </a:r>
          </a:p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/>
            </a:r>
          </a:p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📐 Modeling (Storage Box):</a:t>
            </a:r>
          </a:p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• Factored form V(x) = (expr₁)(expr₂)(expr₃) — each factor is a dimension.</a:t>
            </a:r>
          </a:p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• Use physical constraint ("length is greatest") to assign dimensions.</a:t>
            </a:r>
          </a:p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• Solve cubic equation V(x) = 10 ft³ — show all work.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B3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libri"/>
              </a:rPr>
              <a:t>Explore — Think-Pair-Share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BD0E6"/>
                </a:solidFill>
                <a:latin typeface="Calibri"/>
              </a:rPr>
              <a:t>Algebra 2  ·  Lesson 3-5  ·  Period 3 (Wed)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875520" y="228600"/>
            <a:ext cx="777240" cy="320040"/>
          </a:xfrm>
          <a:prstGeom prst="roundRect">
            <a:avLst>
              <a:gd name="adj" fmla="val 50000"/>
            </a:avLst>
          </a:prstGeom>
          <a:solidFill>
            <a:srgbClr val="C88B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DOK 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744200" y="228600"/>
            <a:ext cx="877824" cy="32004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38 min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875520" y="658368"/>
            <a:ext cx="1481328" cy="320040"/>
          </a:xfrm>
          <a:prstGeom prst="roundRect">
            <a:avLst>
              <a:gd name="adj" fmla="val 50000"/>
            </a:avLst>
          </a:prstGeom>
          <a:solidFill>
            <a:srgbClr val="1E6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student 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46304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556677"/>
                </a:solidFill>
                <a:latin typeface="Calibri"/>
              </a:rPr>
              <a:t>Work with a partner. Use the rule card from Launch.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011680"/>
            <a:ext cx="11064240" cy="9144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1E6F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14884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E6FC8"/>
                </a:solidFill>
                <a:latin typeface="Calibri"/>
              </a:rPr>
              <a:t>Try It 3a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697480"/>
            <a:ext cx="10515600" cy="91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What are all the real and complex zeros of the polynomial function shown in the graph? f(x) = 2x^3 - 8x^2 + 9x - 9.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017520"/>
            <a:ext cx="11064240" cy="9144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1E6F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15468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E6FC8"/>
                </a:solidFill>
                <a:latin typeface="Calibri"/>
              </a:rPr>
              <a:t>Try It 3b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703320"/>
            <a:ext cx="10515600" cy="91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What are all the real and complex zeros of the polynomial function shown in the graph? f(x) = x^4 - 3x^2 - 4.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023360"/>
            <a:ext cx="11064240" cy="9144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1E6F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416052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E6FC8"/>
                </a:solidFill>
                <a:latin typeface="Calibri"/>
              </a:rPr>
              <a:t>Practice #17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4709160"/>
            <a:ext cx="10515600" cy="91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What are all the real and complex zeros of the polynomial function shown in the graph? f(x) = x^3 - x^2 - 4x - 6.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5029200"/>
            <a:ext cx="11064240" cy="9144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1E6F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516636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E6FC8"/>
                </a:solidFill>
                <a:latin typeface="Calibri"/>
              </a:rPr>
              <a:t>Practice #27  ⭐ DOK-3 DRIVER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5715000"/>
            <a:ext cx="10515600" cy="91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Model With Mathematics: The height of a rectangular storage box is less than both its length and width. The function f(x) = x^3 + 2x^2 - 3x represents the volume of the rectangular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B3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libri"/>
              </a:rPr>
              <a:t>Share /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BD0E6"/>
                </a:solidFill>
                <a:latin typeface="Calibri"/>
              </a:rPr>
              <a:t>Algebra 2  ·  Lesson 3-5  ·  Period 3 (Wed)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875520" y="228600"/>
            <a:ext cx="777240" cy="320040"/>
          </a:xfrm>
          <a:prstGeom prst="roundRect">
            <a:avLst>
              <a:gd name="adj" fmla="val 50000"/>
            </a:avLst>
          </a:prstGeom>
          <a:solidFill>
            <a:srgbClr val="C88B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DOK 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744200" y="228600"/>
            <a:ext cx="777240" cy="32004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5 min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875520" y="658368"/>
            <a:ext cx="2386584" cy="320040"/>
          </a:xfrm>
          <a:prstGeom prst="roundRect">
            <a:avLst>
              <a:gd name="adj" fmla="val 50000"/>
            </a:avLst>
          </a:prstGeom>
          <a:solidFill>
            <a:srgbClr val="1E6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academic conversation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554480"/>
            <a:ext cx="11064240" cy="2286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1E6F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69164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E6FC8"/>
                </a:solidFill>
                <a:latin typeface="Calibri"/>
              </a:rPr>
              <a:t>📢 Sentence frame (one pair reads aloud)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24028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"For the Storage Box, the factored form was ___.</a:t>
            </a:r>
          </a:p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 I chose ___ as the length because ___.</a:t>
            </a:r>
          </a:p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 To find V = 10 ft³, I ___."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114800"/>
            <a:ext cx="11064240" cy="23774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D94E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25196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D94E2F"/>
                </a:solidFill>
                <a:latin typeface="Calibri"/>
              </a:rPr>
              <a:t>🔭 Bridge to tomorrow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800600"/>
            <a:ext cx="105156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Tomorrow's assessment Q#6 (Lucy's tray)</a:t>
            </a:r>
          </a:p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uses the same factored-volume idea.</a:t>
            </a:r>
          </a:p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Different physical setup → same strategy.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B3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libri"/>
              </a:rPr>
              <a:t>Exit Ticket — Summary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BD0E6"/>
                </a:solidFill>
                <a:latin typeface="Calibri"/>
              </a:rPr>
              <a:t>Algebra 2  ·  Lesson 3-5  ·  Period 3 (Wed)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875520" y="228600"/>
            <a:ext cx="978408" cy="320040"/>
          </a:xfrm>
          <a:prstGeom prst="roundRect">
            <a:avLst>
              <a:gd name="adj" fmla="val 50000"/>
            </a:avLst>
          </a:prstGeom>
          <a:solidFill>
            <a:srgbClr val="C88B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DOK 1-2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45368" y="228600"/>
            <a:ext cx="777240" cy="32004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2 min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875520" y="658368"/>
            <a:ext cx="1280160" cy="320040"/>
          </a:xfrm>
          <a:prstGeom prst="roundRect">
            <a:avLst>
              <a:gd name="adj" fmla="val 50000"/>
            </a:avLst>
          </a:prstGeom>
          <a:solidFill>
            <a:srgbClr val="1E6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not graded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645920"/>
            <a:ext cx="11064240" cy="4572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C88B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78308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C88B14"/>
                </a:solidFill>
                <a:latin typeface="Calibri"/>
              </a:rPr>
              <a:t>✍️ Complete the stems on your exit ticket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331720"/>
            <a:ext cx="1051560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1. Today I learned that ___.</a:t>
            </a:r>
          </a:p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2. For the Storage Box, the hardest step was ___.</a:t>
            </a:r>
          </a:p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3. Thursday's assessment will test ___.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